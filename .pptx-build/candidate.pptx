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797adbb7854ce8" /><Relationship Type="http://schemas.openxmlformats.org/officeDocument/2006/relationships/extended-properties" Target="/docProps/app.xml" Id="Rdf4038fdfb4d4017" /><Relationship Type="http://schemas.openxmlformats.org/officeDocument/2006/relationships/officeDocument" Target="/ppt/presentation.xml" Id="Re4313d7a8cd245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c24e8edac1497d"/>
  </p:sldMasterIdLst>
  <p:notesMasterIdLst>
    <p:notesMasterId xmlns:r="http://schemas.openxmlformats.org/officeDocument/2006/relationships" r:id="R64efc4d804cd4ec6"/>
  </p:notesMasterIdLst>
  <p:sldIdLst>
    <p:sldId xmlns:r="http://schemas.openxmlformats.org/officeDocument/2006/relationships" id="256" r:id="R1e2de0877d8b4a76"/>
    <p:sldId xmlns:r="http://schemas.openxmlformats.org/officeDocument/2006/relationships" id="257" r:id="R50fea9ed9de14f4a"/>
    <p:sldId xmlns:r="http://schemas.openxmlformats.org/officeDocument/2006/relationships" id="258" r:id="R0280318556e246cf"/>
    <p:sldId xmlns:r="http://schemas.openxmlformats.org/officeDocument/2006/relationships" id="259" r:id="R2b85735cb15341f4"/>
    <p:sldId xmlns:r="http://schemas.openxmlformats.org/officeDocument/2006/relationships" id="260" r:id="R6993b6cc0e854ae3"/>
    <p:sldId xmlns:r="http://schemas.openxmlformats.org/officeDocument/2006/relationships" id="261" r:id="Raee65be81fe247b5"/>
    <p:sldId xmlns:r="http://schemas.openxmlformats.org/officeDocument/2006/relationships" id="262" r:id="R2fe3acf25b714887"/>
    <p:sldId xmlns:r="http://schemas.openxmlformats.org/officeDocument/2006/relationships" id="263" r:id="R8b30e2c9c6de43d7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15ae02dc38499f" /><Relationship Type="http://schemas.openxmlformats.org/officeDocument/2006/relationships/slideMaster" Target="/ppt/slideMasters/slideMaster1.xml" Id="Rf2c24e8edac1497d" /><Relationship Type="http://schemas.openxmlformats.org/officeDocument/2006/relationships/notesMaster" Target="/ppt/notesMasters/notesMaster1.xml" Id="R64efc4d804cd4ec6" /><Relationship Type="http://schemas.openxmlformats.org/officeDocument/2006/relationships/presProps" Target="/ppt/presProps.xml" Id="R3368e8f50f334626" /><Relationship Type="http://schemas.openxmlformats.org/officeDocument/2006/relationships/viewProps" Target="/ppt/viewProps.xml" Id="R64052f6965354a07" /><Relationship Type="http://schemas.openxmlformats.org/officeDocument/2006/relationships/tableStyles" Target="/ppt/tableStyles.xml" Id="R0d43b0fc9b154550" /><Relationship Type="http://schemas.openxmlformats.org/officeDocument/2006/relationships/slide" Target="/ppt/slides/slide1.xml" Id="R1e2de0877d8b4a76" /><Relationship Type="http://schemas.openxmlformats.org/officeDocument/2006/relationships/slide" Target="/ppt/slides/slide2.xml" Id="R50fea9ed9de14f4a" /><Relationship Type="http://schemas.openxmlformats.org/officeDocument/2006/relationships/slide" Target="/ppt/slides/slide3.xml" Id="R0280318556e246cf" /><Relationship Type="http://schemas.openxmlformats.org/officeDocument/2006/relationships/slide" Target="/ppt/slides/slide4.xml" Id="R2b85735cb15341f4" /><Relationship Type="http://schemas.openxmlformats.org/officeDocument/2006/relationships/slide" Target="/ppt/slides/slide5.xml" Id="R6993b6cc0e854ae3" /><Relationship Type="http://schemas.openxmlformats.org/officeDocument/2006/relationships/slide" Target="/ppt/slides/slide6.xml" Id="Raee65be81fe247b5" /><Relationship Type="http://schemas.openxmlformats.org/officeDocument/2006/relationships/slide" Target="/ppt/slides/slide7.xml" Id="R2fe3acf25b714887" /><Relationship Type="http://schemas.openxmlformats.org/officeDocument/2006/relationships/slide" Target="/ppt/slides/slide8.xml" Id="R8b30e2c9c6de43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4b9c350c8f48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395a268b61406b" /><Relationship Type="http://schemas.openxmlformats.org/officeDocument/2006/relationships/notesMaster" Target="/ppt/notesMasters/notesMaster1.xml" Id="R27f656a9f48148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3eb777c9cb4caa" /><Relationship Type="http://schemas.openxmlformats.org/officeDocument/2006/relationships/notesMaster" Target="/ppt/notesMasters/notesMaster1.xml" Id="R57c99378030140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9ccd05c9564a15" /><Relationship Type="http://schemas.openxmlformats.org/officeDocument/2006/relationships/notesMaster" Target="/ppt/notesMasters/notesMaster1.xml" Id="Rb58356c1866a4c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868314108745bb" /><Relationship Type="http://schemas.openxmlformats.org/officeDocument/2006/relationships/notesMaster" Target="/ppt/notesMasters/notesMaster1.xml" Id="Rae7c4bc108c144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ee66a8b73d4807" /><Relationship Type="http://schemas.openxmlformats.org/officeDocument/2006/relationships/notesMaster" Target="/ppt/notesMasters/notesMaster1.xml" Id="R63520937065b4a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2feb20c10f4ae4" /><Relationship Type="http://schemas.openxmlformats.org/officeDocument/2006/relationships/notesMaster" Target="/ppt/notesMasters/notesMaster1.xml" Id="R242cfc5763964d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60f6f238df425c" /><Relationship Type="http://schemas.openxmlformats.org/officeDocument/2006/relationships/notesMaster" Target="/ppt/notesMasters/notesMaster1.xml" Id="R933449592a034f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a63b7bd92b4d25" /><Relationship Type="http://schemas.openxmlformats.org/officeDocument/2006/relationships/notesMaster" Target="/ppt/notesMasters/notesMaster1.xml" Id="R7e835a8657ac47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ac732852c454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e4ae4f12394493" /><Relationship Type="http://schemas.openxmlformats.org/officeDocument/2006/relationships/slideLayout" Target="/ppt/slideLayouts/slideLayout1.xml" Id="R5f586e7e37fb444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586e7e37fb444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b24ae7e574d71" /><Relationship Type="http://schemas.openxmlformats.org/officeDocument/2006/relationships/image" Target="/ppt/media/image.png" Id="R1a0bf2b6715b4e44" /><Relationship Type="http://schemas.openxmlformats.org/officeDocument/2006/relationships/notesSlide" Target="/ppt/notesSlides/notesSlide1.xml" Id="R1d3471d9fd5d46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7cd43b6164084" /><Relationship Type="http://schemas.openxmlformats.org/officeDocument/2006/relationships/image" Target="/ppt/media/image.png" Id="R8920961c700b4551" /><Relationship Type="http://schemas.openxmlformats.org/officeDocument/2006/relationships/image" Target="/ppt/media/image2.png" Id="Rcf278338f63d41d4" /><Relationship Type="http://schemas.openxmlformats.org/officeDocument/2006/relationships/notesSlide" Target="/ppt/notesSlides/notesSlide2.xml" Id="R78f3ff4a7c2846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3ea247e514bf7" /><Relationship Type="http://schemas.openxmlformats.org/officeDocument/2006/relationships/image" Target="/ppt/media/image.png" Id="Rac73d6192d7b4126" /><Relationship Type="http://schemas.openxmlformats.org/officeDocument/2006/relationships/image" Target="/ppt/media/image2.png" Id="R63a8c25e5cea4458" /><Relationship Type="http://schemas.openxmlformats.org/officeDocument/2006/relationships/notesSlide" Target="/ppt/notesSlides/notesSlide3.xml" Id="Rbce743f1baa34c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f1acff8e64b10" /><Relationship Type="http://schemas.openxmlformats.org/officeDocument/2006/relationships/image" Target="/ppt/media/image.png" Id="R8b637d832c4a489b" /><Relationship Type="http://schemas.openxmlformats.org/officeDocument/2006/relationships/image" Target="/ppt/media/image3.png" Id="R9fd5dddec1d848ac" /><Relationship Type="http://schemas.openxmlformats.org/officeDocument/2006/relationships/notesSlide" Target="/ppt/notesSlides/notesSlide4.xml" Id="Rfc89adc76d9545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88aaba4a24535" /><Relationship Type="http://schemas.openxmlformats.org/officeDocument/2006/relationships/image" Target="/ppt/media/image.png" Id="Ra8f4abe35dd44138" /><Relationship Type="http://schemas.openxmlformats.org/officeDocument/2006/relationships/image" Target="/ppt/media/image4.png" Id="R9e4628e3fb6f45c8" /><Relationship Type="http://schemas.openxmlformats.org/officeDocument/2006/relationships/notesSlide" Target="/ppt/notesSlides/notesSlide5.xml" Id="R85cd4bd8cacb47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d458e81184487" /><Relationship Type="http://schemas.openxmlformats.org/officeDocument/2006/relationships/image" Target="/ppt/media/image5.png" Id="Rd3eef61205794df7" /><Relationship Type="http://schemas.openxmlformats.org/officeDocument/2006/relationships/notesSlide" Target="/ppt/notesSlides/notesSlide6.xml" Id="R4629a612a70042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8b3c032cf4155" /><Relationship Type="http://schemas.openxmlformats.org/officeDocument/2006/relationships/image" Target="/ppt/media/image6.png" Id="Rf402f5821e5146b2" /><Relationship Type="http://schemas.openxmlformats.org/officeDocument/2006/relationships/notesSlide" Target="/ppt/notesSlides/notesSlide7.xml" Id="Raa65b65830084a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1d83b7dc54750" /><Relationship Type="http://schemas.openxmlformats.org/officeDocument/2006/relationships/image" Target="/ppt/media/image.png" Id="R0fe6c5e641f941a5" /><Relationship Type="http://schemas.openxmlformats.org/officeDocument/2006/relationships/notesSlide" Target="/ppt/notesSlides/notesSlide8.xml" Id="Rb751f78ea7a041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011010E-2778-4BE2-930B-0526B6E3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9808"/>
            <a:ext cx="12191695" cy="22494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7B289F7-C710-4949-827E-F23218B0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5768" y="54864"/>
            <a:ext cx="1280160" cy="128016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AD5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pic>
        <p:nvPicPr>
          <p:cNvPr id="4" name="Image 0">
            <a:extLst xmlns:a="http://schemas.openxmlformats.org/drawingml/2006/main">
              <a:ext uri="{FF2B5EF4-FFF2-40B4-BE49-F238E27FC236}">
                <a16:creationId xmlns:a16="http://schemas.microsoft.com/office/drawing/2014/main" id="{E0779493-0690-4C40-9FF4-8F9217949D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bf2b6715b4e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8568" y="1417320"/>
            <a:ext cx="2194560" cy="1319237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65D3F43-A1A1-4B0C-A681-9207C62C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54680"/>
            <a:ext cx="1054577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002060"/>
                </a:solidFill>
                <a:latin typeface="Cambria"/>
                <a:ea typeface="Cambria"/>
                <a:cs typeface="Cambria"/>
              </a:rPr>
              <a:t>AI-Powered Software Testing System</a:t>
            </a:r>
            <a:endParaRPr sz="40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B76BA0-0D3C-49D9-AD96-08B82AA6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3360"/>
            <a:ext cx="1054577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Requirement-to-Release Testing Automation Powered by Local AI</a:t>
            </a:r>
            <a:endParaRPr sz="1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06575A9-A3E9-4A0F-9864-F9BE9718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00600"/>
            <a:ext cx="1054577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002060"/>
                </a:solidFill>
                <a:latin typeface="Cambria"/>
                <a:ea typeface="Cambria"/>
                <a:cs typeface="Cambria"/>
              </a:rPr>
              <a:t>Presented by: </a:t>
            </a:r>
            <a:r>
              <a:rPr b="1">
                <a:solidFill>
                  <a:srgbClr val="002060"/>
                </a:solidFill>
                <a:latin typeface="Cambria"/>
                <a:ea typeface="Cambria"/>
                <a:cs typeface="Cambria"/>
              </a:rPr>
              <a:t>HARSHA B H</a:t>
            </a:r>
            <a:endParaRPr sz="1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D1734EA-8AD9-45A0-B2FD-C80AEF0D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48072"/>
            <a:ext cx="105457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6B7280"/>
                </a:solidFill>
                <a:latin typeface="Cambria"/>
                <a:ea typeface="Cambria"/>
                <a:cs typeface="Cambria"/>
              </a:rPr>
              <a:t>Reg. No 2538M0097</a:t>
            </a:r>
            <a:endParaRPr sz="13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947D062-2E99-4EE0-A434-797C2B9D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77840"/>
            <a:ext cx="1054577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B7280"/>
                </a:solidFill>
                <a:latin typeface="Cambria"/>
                <a:ea typeface="Cambria"/>
                <a:cs typeface="Cambria"/>
              </a:rPr>
              <a:t>Under the Guidance of</a:t>
            </a:r>
            <a:endParaRPr sz="1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F50C5E2-5B68-42BE-ABA5-4110540D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52160"/>
            <a:ext cx="1054577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02060"/>
                </a:solidFill>
                <a:latin typeface="Cambria"/>
                <a:ea typeface="Cambria"/>
                <a:cs typeface="Cambria"/>
              </a:rPr>
              <a:t>Mr</a:t>
            </a:r>
            <a:r>
              <a:rPr sz="1500" b="1">
                <a:solidFill>
                  <a:srgbClr val="002060"/>
                </a:solidFill>
                <a:latin typeface="Cambria"/>
                <a:ea typeface="Cambria"/>
                <a:cs typeface="Cambria"/>
              </a:rPr>
              <a:t> SURENDREN D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5550786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711675CF-E410-4C72-9479-B958B22A85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0961c700b4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91495" y="256032"/>
            <a:ext cx="1234440" cy="445242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917A68E6-A524-4817-A5D8-EA39C9C1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201168" cy="20116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AD5A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E9715E6-CE30-4CC6-99A0-D2BABC15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"/>
            <a:ext cx="963137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002060"/>
                </a:solidFill>
                <a:latin typeface="Cambria"/>
                <a:ea typeface="Cambria"/>
                <a:cs typeface="Cambria"/>
              </a:rPr>
              <a:t>Input Design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92FD353-7DAF-4A74-8EA3-9FF61A40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749808"/>
            <a:ext cx="94484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KEY DATA-ENTRY SCREENS</a:t>
            </a:r>
            <a:endParaRPr sz="11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5737A483-7C20-47FF-AC66-E823A2AE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51052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96167"/>
                </a:solidFill>
                <a:latin typeface="Cambria"/>
                <a:ea typeface="Cambria"/>
                <a:cs typeface="Cambria"/>
              </a:rPr>
              <a:t>AI-Powered Software Testing System</a:t>
            </a:r>
            <a:endParaRPr sz="10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9A476E2-702F-429C-9AEB-C12AAD01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51052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Cambria"/>
                <a:ea typeface="Cambria"/>
                <a:cs typeface="Cambria"/>
              </a:rPr>
              <a:t>11</a:t>
            </a:r>
            <a:endParaRPr sz="10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6D8C9009-C12C-4C87-B237-3E90CAC8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528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E3868A1-8570-412C-846F-C00A67DA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48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AD5A"/>
          </a:solidFill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71416BB-6DA7-4E30-A511-8F882648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96167"/>
          </a:solidFill>
        </p:spPr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E65D092A-81F0-41EC-93A5-DA4D04E624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78338f63d41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04672"/>
            <a:ext cx="12192000" cy="60533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2770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87758220-EC5F-4E51-BE1D-1D1F99D750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3d6192d7b41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91495" y="256032"/>
            <a:ext cx="1234440" cy="445242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3BBB53DC-4FD2-89AF-09FB-D8960012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201168" cy="20116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AD5A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4E243354-C8C0-FF5C-BF56-07391B40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"/>
            <a:ext cx="963137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002060"/>
                </a:solidFill>
                <a:latin typeface="Cambria"/>
                <a:ea typeface="Cambria"/>
                <a:cs typeface="Cambria"/>
              </a:rPr>
              <a:t>Input Design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B29D463-E99D-7C1A-16E9-F51AEF2C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749808"/>
            <a:ext cx="94484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KEY DATA-ENTRY SCREENS</a:t>
            </a:r>
            <a:endParaRPr sz="11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B7001951-7463-3E15-D999-56D2C579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51052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96167"/>
                </a:solidFill>
                <a:latin typeface="Cambria"/>
                <a:ea typeface="Cambria"/>
                <a:cs typeface="Cambria"/>
              </a:rPr>
              <a:t>AI-Powered Software Testing System</a:t>
            </a:r>
            <a:endParaRPr sz="10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6C652CC-DB5E-6AD6-C5DD-CC611EFB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51052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Cambria"/>
                <a:ea typeface="Cambria"/>
                <a:cs typeface="Cambria"/>
              </a:rPr>
              <a:t>11</a:t>
            </a:r>
            <a:endParaRPr sz="10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CBEEFDC6-49A5-47D9-D030-0108DBA0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528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9624C8F-3347-6795-CD7B-CDBB7A63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48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AD5A"/>
          </a:solidFill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F7A3744-EF89-2538-4FAB-03AC38AA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96167"/>
          </a:solidFill>
        </p:spPr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CC2D6DB6-9E7B-4FB7-9A54-BBC6871A01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8c25e5cea44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04672"/>
            <a:ext cx="12192000" cy="60533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288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88D28648-628E-4DEC-BBD6-4B93354759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37d832c4a48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91495" y="256032"/>
            <a:ext cx="1234440" cy="445242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1BD38EC0-264D-48DA-934B-9D627DF8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201168" cy="20116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AD5A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552C1B4D-7AC8-46EE-8D0C-64AAFBD1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"/>
            <a:ext cx="963137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002060"/>
                </a:solidFill>
                <a:latin typeface="Cambria"/>
                <a:ea typeface="Cambria"/>
                <a:cs typeface="Cambria"/>
              </a:rPr>
              <a:t>Output Design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E7F679A-97C7-45E5-AA89-D0F08103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749808"/>
            <a:ext cx="94484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WHAT THE SYSTEM PRESENTS</a:t>
            </a:r>
            <a:endParaRPr sz="11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954A9B9B-311E-4CBE-A685-CC930529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51052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96167"/>
                </a:solidFill>
                <a:latin typeface="Cambria"/>
                <a:ea typeface="Cambria"/>
                <a:cs typeface="Cambria"/>
              </a:rPr>
              <a:t>AI-Powered Software Testing System</a:t>
            </a:r>
            <a:endParaRPr sz="10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CFCD8DB-829D-424D-AB48-0F98A8F4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51052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Cambria"/>
                <a:ea typeface="Cambria"/>
                <a:cs typeface="Cambria"/>
              </a:rPr>
              <a:t>12</a:t>
            </a:r>
            <a:endParaRPr sz="10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89B012C4-09B1-4205-BFC6-681012CA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528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BED34AE-2C64-41B8-A4F9-94EB9052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48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AD5A"/>
          </a:solidFill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EE067859-7CF5-47B2-BF27-2F13A66B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96167"/>
          </a:solidFill>
        </p:spPr>
      </p:sp>
      <p:pic>
        <p:nvPicPr>
          <p:cNvPr id="12" name="Picture 11">
            <a:extLst xmlns:a="http://schemas.openxmlformats.org/drawingml/2006/main">
              <a:ext uri="{FF2B5EF4-FFF2-40B4-BE49-F238E27FC236}">
                <a16:creationId xmlns:a16="http://schemas.microsoft.com/office/drawing/2014/main" id="{53F2022F-55C3-40E1-B984-B32E5337C8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5dddec1d848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804672"/>
            <a:ext cx="12192000" cy="60523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8732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9FB30521-00CE-4461-91CA-EBF97A0152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4abe35dd44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91495" y="256032"/>
            <a:ext cx="1234440" cy="445242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813BBA4F-A7BD-DE06-6A52-7A7108AF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201168" cy="20116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AD5A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375E46E8-FF12-5F64-BF1F-4800EF98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"/>
            <a:ext cx="963137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002060"/>
                </a:solidFill>
                <a:latin typeface="Cambria"/>
                <a:ea typeface="Cambria"/>
                <a:cs typeface="Cambria"/>
              </a:rPr>
              <a:t>Output Design</a:t>
            </a:r>
            <a:endParaRPr sz="30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50E748D9-5E36-7FDD-B187-9F6D12DD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51052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96167"/>
                </a:solidFill>
                <a:latin typeface="Cambria"/>
                <a:ea typeface="Cambria"/>
                <a:cs typeface="Cambria"/>
              </a:rPr>
              <a:t>AI-Powered Software Testing System</a:t>
            </a:r>
            <a:endParaRPr sz="10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D99BAB5-7DEB-3F46-3F48-0B1B8928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51052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Cambria"/>
                <a:ea typeface="Cambria"/>
                <a:cs typeface="Cambria"/>
              </a:rPr>
              <a:t>12</a:t>
            </a:r>
            <a:endParaRPr sz="1000"/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DC87CE50-D270-A03D-5A28-A9B2BF1C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528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EF97295-CCA8-56DD-9B1E-3DF68BC4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48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AD5A"/>
          </a:solidFill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8FE379A-9ED7-0A0B-FF97-70DFBE60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96167"/>
          </a:solidFill>
        </p:spPr>
      </p:sp>
      <p:pic>
        <p:nvPicPr>
          <p:cNvPr id="13" name="Picture 12">
            <a:extLst xmlns:a="http://schemas.openxmlformats.org/drawingml/2006/main">
              <a:ext uri="{FF2B5EF4-FFF2-40B4-BE49-F238E27FC236}">
                <a16:creationId xmlns:a16="http://schemas.microsoft.com/office/drawing/2014/main" id="{6EABC010-5905-43D1-850D-502F45D59C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628e3fb6f45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2673" y="830089"/>
            <a:ext cx="7506350" cy="566215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527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diamond">
            <a:extLst xmlns:a="http://schemas.openxmlformats.org/drawingml/2006/main">
              <a:ext uri="{FF2B5EF4-FFF2-40B4-BE49-F238E27FC236}">
                <a16:creationId xmlns:a16="http://schemas.microsoft.com/office/drawing/2014/main" id="{36FBCEAE-B199-4B23-A94A-79F29C26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201168" cy="20116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A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ACAB86-C5A4-4692-B36B-654140F0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"/>
            <a:ext cx="9631394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00206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2060"/>
                </a:solidFill>
                <a:latin typeface="Cambria"/>
                <a:ea typeface="Cambria"/>
                <a:cs typeface="Cambria"/>
              </a:defRPr>
            </a:pPr>
            <a:r>
              <a:rPr sz="3000" b="1">
                <a:solidFill>
                  <a:srgbClr val="002060"/>
                </a:solidFill>
                <a:latin typeface="Cambria"/>
                <a:ea typeface="Cambria"/>
                <a:cs typeface="Cambria"/>
              </a:rPr>
              <a:t>Testing Strategy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2452C0B-6416-41CF-8E87-D10BA4DA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749808"/>
            <a:ext cx="944851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00" b="1">
                <a:solidFill>
                  <a:srgbClr val="02809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028090"/>
                </a:solidFill>
                <a:latin typeface="Calibri"/>
                <a:ea typeface="Calibri"/>
                <a:cs typeface="Calibri"/>
              </a:defRPr>
            </a:pPr>
            <a:r>
              <a:rPr sz="11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AI SOFTWARE TESTER VALIDATION</a:t>
            </a:r>
          </a:p>
        </p:txBody>
      </p:sp>
      <p:sp>
        <p:nvSpPr>
          <p:cNvPr id="4" name="project-footer">
            <a:extLst xmlns:a="http://schemas.openxmlformats.org/drawingml/2006/main">
              <a:ext uri="{FF2B5EF4-FFF2-40B4-BE49-F238E27FC236}">
                <a16:creationId xmlns:a16="http://schemas.microsoft.com/office/drawing/2014/main" id="{4B285FF8-1248-48A6-A24A-B747EA10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51052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00" b="1">
                <a:solidFill>
                  <a:srgbClr val="F96167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000" b="1">
                <a:solidFill>
                  <a:srgbClr val="F96167"/>
                </a:solidFill>
                <a:latin typeface="Cambria"/>
                <a:ea typeface="Cambria"/>
                <a:cs typeface="Cambria"/>
              </a:defRPr>
            </a:pPr>
            <a:r>
              <a:rPr sz="1000" b="1">
                <a:solidFill>
                  <a:srgbClr val="F96167"/>
                </a:solidFill>
                <a:latin typeface="Cambria"/>
                <a:ea typeface="Cambria"/>
                <a:cs typeface="Cambria"/>
              </a:rPr>
              <a:t>AI-Powered Software Testing System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649439-344E-4F5C-A450-14327F7C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54" y="651052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00">
                <a:solidFill>
                  <a:srgbClr val="6B728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000">
                <a:solidFill>
                  <a:srgbClr val="6B7280"/>
                </a:solidFill>
                <a:latin typeface="Cambria"/>
                <a:ea typeface="Cambria"/>
                <a:cs typeface="Cambria"/>
              </a:defRPr>
            </a:pPr>
            <a:r>
              <a:rPr sz="1000">
                <a:solidFill>
                  <a:srgbClr val="6B7280"/>
                </a:solidFill>
                <a:latin typeface="Cambria"/>
                <a:ea typeface="Cambria"/>
                <a:cs typeface="Cambria"/>
              </a:rPr>
              <a:t>13</a:t>
            </a:r>
          </a:p>
        </p:txBody>
      </p:sp>
      <p:sp>
        <p:nvSpPr>
          <p:cNvPr id="6" name="footer-diamond-1">
            <a:extLst xmlns:a="http://schemas.openxmlformats.org/drawingml/2006/main">
              <a:ext uri="{FF2B5EF4-FFF2-40B4-BE49-F238E27FC236}">
                <a16:creationId xmlns:a16="http://schemas.microsoft.com/office/drawing/2014/main" id="{0D1A8CFA-7BAA-487F-85F1-44F1A014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489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diamond-2">
            <a:extLst xmlns:a="http://schemas.openxmlformats.org/drawingml/2006/main">
              <a:ext uri="{FF2B5EF4-FFF2-40B4-BE49-F238E27FC236}">
                <a16:creationId xmlns:a16="http://schemas.microsoft.com/office/drawing/2014/main" id="{7A548FA4-FC8D-4C5C-B6C9-132A9FD6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09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A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diamond-3">
            <a:extLst xmlns:a="http://schemas.openxmlformats.org/drawingml/2006/main">
              <a:ext uri="{FF2B5EF4-FFF2-40B4-BE49-F238E27FC236}">
                <a16:creationId xmlns:a16="http://schemas.microsoft.com/office/drawing/2014/main" id="{FC8C1A8A-73FB-4644-9E64-C04D1AF6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30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9616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CA673-0FFB-4E79-8419-52E8EF3254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ef61205794df7"/>
          <a:stretch xmlns:a="http://schemas.openxmlformats.org/drawingml/2006/main"/>
        </p:blipFill>
        <p:spPr>
          <a:xfrm xmlns:a="http://schemas.openxmlformats.org/drawingml/2006/main">
            <a:off x="10838439" y="256032"/>
            <a:ext cx="740591" cy="445199"/>
          </a:xfrm>
          <a:prstGeom xmlns:a="http://schemas.openxmlformats.org/drawingml/2006/main" prst="rect">
            <a:avLst/>
          </a:prstGeom>
        </p:spPr>
      </p:pic>
      <p:sp>
        <p:nvSpPr>
          <p:cNvPr id="10" name="testing-scope-heading">
            <a:extLst xmlns:a="http://schemas.openxmlformats.org/drawingml/2006/main">
              <a:ext uri="{FF2B5EF4-FFF2-40B4-BE49-F238E27FC236}">
                <a16:creationId xmlns:a16="http://schemas.microsoft.com/office/drawing/2014/main" id="{320FE9A3-4885-4DF8-B803-9EBF5609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>
            <a:defPPr>
              <a:defRPr sz="1600" b="1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600" b="1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16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Testing scope</a:t>
            </a:r>
          </a:p>
        </p:txBody>
      </p:sp>
      <p:sp>
        <p:nvSpPr>
          <p:cNvPr id="11" name="testing-scope-body">
            <a:extLst xmlns:a="http://schemas.openxmlformats.org/drawingml/2006/main">
              <a:ext uri="{FF2B5EF4-FFF2-40B4-BE49-F238E27FC236}">
                <a16:creationId xmlns:a16="http://schemas.microsoft.com/office/drawing/2014/main" id="{42B7974D-A67F-4174-AF66-4574DEDE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577840" cy="2788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00">
                <a:solidFill>
                  <a:srgbClr val="00123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00">
                <a:solidFill>
                  <a:srgbClr val="001233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001233"/>
                </a:solidFill>
                <a:latin typeface="Calibri"/>
                <a:ea typeface="Calibri"/>
                <a:cs typeface="Calibri"/>
              </a:rPr>
              <a:t>AI response parsing: extract plain, fenced and embedded JSON, then validate the required fields.</a:t>
            </a:r>
          </a:p>
          <a:p xmlns:a="http://schemas.openxmlformats.org/drawingml/2006/main">
            <a:pPr>
              <a:defRPr sz="1300">
                <a:solidFill>
                  <a:srgbClr val="001233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001233"/>
                </a:solidFill>
                <a:latin typeface="Calibri"/>
                <a:ea typeface="Calibri"/>
                <a:cs typeface="Calibri"/>
              </a:rPr>
              <a:t>Action safety: enforce the allowlist and reject unknown or shell-like actions before execution.</a:t>
            </a:r>
          </a:p>
          <a:p xmlns:a="http://schemas.openxmlformats.org/drawingml/2006/main">
            <a:pPr>
              <a:defRPr sz="1300">
                <a:solidFill>
                  <a:srgbClr val="001233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001233"/>
                </a:solidFill>
                <a:latin typeface="Calibri"/>
                <a:ea typeface="Calibri"/>
                <a:cs typeface="Calibri"/>
              </a:rPr>
              <a:t>Data and metrics: check project, requirement, test-case and result persistence, plus empty and mixed pass-rate calculations.</a:t>
            </a:r>
          </a:p>
          <a:p xmlns:a="http://schemas.openxmlformats.org/drawingml/2006/main">
            <a:pPr>
              <a:defRPr sz="1300">
                <a:solidFill>
                  <a:srgbClr val="001233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001233"/>
                </a:solidFill>
                <a:latin typeface="Calibri"/>
                <a:ea typeface="Calibri"/>
                <a:cs typeface="Calibri"/>
              </a:rPr>
              <a:t>Execution and reporting: validate UI/API outcomes, record failures and evidence, and generate project reports.</a:t>
            </a:r>
          </a:p>
        </p:txBody>
      </p:sp>
      <p:sp>
        <p:nvSpPr>
          <p:cNvPr id="12" name="testing-use-heading">
            <a:extLst xmlns:a="http://schemas.openxmlformats.org/drawingml/2006/main">
              <a:ext uri="{FF2B5EF4-FFF2-40B4-BE49-F238E27FC236}">
                <a16:creationId xmlns:a16="http://schemas.microsoft.com/office/drawing/2014/main" id="{AC33D987-BCE2-461F-8F08-FDB050BA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9625"/>
            <a:ext cx="5577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F96167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96167"/>
                </a:solidFill>
                <a:latin typeface="Cambria"/>
                <a:ea typeface="Cambria"/>
                <a:cs typeface="Cambria"/>
              </a:defRPr>
            </a:pPr>
            <a:r>
              <a:rPr sz="1500" b="1">
                <a:solidFill>
                  <a:srgbClr val="F96167"/>
                </a:solidFill>
                <a:latin typeface="Cambria"/>
                <a:ea typeface="Cambria"/>
                <a:cs typeface="Cambria"/>
              </a:rPr>
              <a:t>Project workflow under test</a:t>
            </a:r>
          </a:p>
        </p:txBody>
      </p:sp>
      <p:sp>
        <p:nvSpPr>
          <p:cNvPr id="13" name="testing-use-body">
            <a:extLst xmlns:a="http://schemas.openxmlformats.org/drawingml/2006/main">
              <a:ext uri="{FF2B5EF4-FFF2-40B4-BE49-F238E27FC236}">
                <a16:creationId xmlns:a16="http://schemas.microsoft.com/office/drawing/2014/main" id="{3BF6C6FD-D7C5-4039-A080-E9935231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81575"/>
            <a:ext cx="557784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00">
                <a:solidFill>
                  <a:srgbClr val="00123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00">
                <a:solidFill>
                  <a:srgbClr val="001233"/>
                </a:solidFill>
                <a:latin typeface="Calibri"/>
                <a:ea typeface="Calibri"/>
                <a:cs typeface="Calibri"/>
              </a:defRPr>
            </a:pPr>
            <a:r>
              <a:rPr sz="1300">
                <a:solidFill>
                  <a:srgbClr val="001233"/>
                </a:solidFill>
                <a:latin typeface="Calibri"/>
                <a:ea typeface="Calibri"/>
                <a:cs typeface="Calibri"/>
              </a:rPr>
              <a:t>Requirements move through AI analysis and test generation. Validated actions run through Playwright or the API engine, then results feed metrics, bug reports and exports.</a:t>
            </a:r>
          </a:p>
        </p:txBody>
      </p:sp>
      <p:sp>
        <p:nvSpPr>
          <p:cNvPr id="14" name="workflow-panel">
            <a:extLst xmlns:a="http://schemas.openxmlformats.org/drawingml/2006/main">
              <a:ext uri="{FF2B5EF4-FFF2-40B4-BE49-F238E27FC236}">
                <a16:creationId xmlns:a16="http://schemas.microsoft.com/office/drawing/2014/main" id="{102347C3-2672-44D4-8B65-FCD36AD7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234440"/>
            <a:ext cx="5166360" cy="5074920"/>
          </a:xfrm>
          <a:prstGeom xmlns:a="http://schemas.openxmlformats.org/drawingml/2006/main" prst="roundRect">
            <a:avLst>
              <a:gd name="adj" fmla="val 1502"/>
            </a:avLst>
          </a:prstGeom>
          <a:solidFill xmlns:a="http://schemas.openxmlformats.org/drawingml/2006/main">
            <a:srgbClr val="0020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orkflow-panel-label">
            <a:extLst xmlns:a="http://schemas.openxmlformats.org/drawingml/2006/main">
              <a:ext uri="{FF2B5EF4-FFF2-40B4-BE49-F238E27FC236}">
                <a16:creationId xmlns:a16="http://schemas.microsoft.com/office/drawing/2014/main" id="{D40E4530-7DFE-4437-9C78-0783F83F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08760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1">
                <a:solidFill>
                  <a:srgbClr val="FFAD5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AD5A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AD5A"/>
                </a:solidFill>
                <a:latin typeface="Calibri"/>
                <a:ea typeface="Calibri"/>
                <a:cs typeface="Calibri"/>
              </a:rPr>
              <a:t>TESTING OBJECTIVE</a:t>
            </a:r>
          </a:p>
        </p:txBody>
      </p:sp>
      <p:sp>
        <p:nvSpPr>
          <p:cNvPr id="16" name="workflow-panel-copy">
            <a:extLst xmlns:a="http://schemas.openxmlformats.org/drawingml/2006/main">
              <a:ext uri="{FF2B5EF4-FFF2-40B4-BE49-F238E27FC236}">
                <a16:creationId xmlns:a16="http://schemas.microsoft.com/office/drawing/2014/main" id="{21A1D181-1A64-42C7-A69B-5B81CAB9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1680"/>
            <a:ext cx="448056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650" b="1" i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650" b="1" i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650" b="1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Verify that AI output becomes structured, safe-to-run tests and that every execution result remains traceable.</a:t>
            </a:r>
          </a:p>
        </p:txBody>
      </p:sp>
      <p:sp>
        <p:nvSpPr>
          <p:cNvPr id="17" name="workflow-panel-steps">
            <a:extLst xmlns:a="http://schemas.openxmlformats.org/drawingml/2006/main">
              <a:ext uri="{FF2B5EF4-FFF2-40B4-BE49-F238E27FC236}">
                <a16:creationId xmlns:a16="http://schemas.microsoft.com/office/drawing/2014/main" id="{6F897360-C751-4A3B-BAB0-418D19ED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14775"/>
            <a:ext cx="448056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Analyze requirements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Generate test cases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Validate and execute UI or API actions</a:t>
            </a:r>
          </a:p>
          <a:p xmlns:a="http://schemas.openxmlformats.org/drawingml/2006/main">
            <a:pPr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Record results, defects and reports</a:t>
            </a:r>
          </a:p>
        </p:txBody>
      </p:sp>
    </p:spTree>
    <p:extLst>
      <p:ext uri="{BB962C8B-B14F-4D97-AF65-F5344CB8AC3E}">
        <p14:creationId xmlns:p14="http://schemas.microsoft.com/office/powerpoint/2010/main" val="8807614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diamond">
            <a:extLst xmlns:a="http://schemas.openxmlformats.org/drawingml/2006/main">
              <a:ext uri="{FF2B5EF4-FFF2-40B4-BE49-F238E27FC236}">
                <a16:creationId xmlns:a16="http://schemas.microsoft.com/office/drawing/2014/main" id="{FC144548-FBF8-45EA-B8F5-25B16639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201168" cy="20116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A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3E4633-ABBD-4A0A-9EFF-D246E2C9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"/>
            <a:ext cx="9631394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00206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02060"/>
                </a:solidFill>
                <a:latin typeface="Cambria"/>
                <a:ea typeface="Cambria"/>
                <a:cs typeface="Cambria"/>
              </a:defRPr>
            </a:pPr>
            <a:r>
              <a:rPr sz="3000" b="1">
                <a:solidFill>
                  <a:srgbClr val="002060"/>
                </a:solidFill>
                <a:latin typeface="Cambria"/>
                <a:ea typeface="Cambria"/>
                <a:cs typeface="Cambria"/>
              </a:rPr>
              <a:t>Project Test Cases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5911D53-10FB-47F5-83C0-4CD2B79B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749808"/>
            <a:ext cx="9448514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00" b="1">
                <a:solidFill>
                  <a:srgbClr val="02809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100" b="1">
                <a:solidFill>
                  <a:srgbClr val="028090"/>
                </a:solidFill>
                <a:latin typeface="Calibri"/>
                <a:ea typeface="Calibri"/>
                <a:cs typeface="Calibri"/>
              </a:defRPr>
            </a:pPr>
            <a:r>
              <a:rPr sz="1100" b="1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AI SOFTWARE TESTER MODULES</a:t>
            </a:r>
          </a:p>
        </p:txBody>
      </p:sp>
      <p:sp>
        <p:nvSpPr>
          <p:cNvPr id="4" name="project-footer">
            <a:extLst xmlns:a="http://schemas.openxmlformats.org/drawingml/2006/main">
              <a:ext uri="{FF2B5EF4-FFF2-40B4-BE49-F238E27FC236}">
                <a16:creationId xmlns:a16="http://schemas.microsoft.com/office/drawing/2014/main" id="{155200AA-1F8D-43FE-A340-0F94ACBA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51052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00" b="1">
                <a:solidFill>
                  <a:srgbClr val="F96167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000" b="1">
                <a:solidFill>
                  <a:srgbClr val="F96167"/>
                </a:solidFill>
                <a:latin typeface="Cambria"/>
                <a:ea typeface="Cambria"/>
                <a:cs typeface="Cambria"/>
              </a:defRPr>
            </a:pPr>
            <a:r>
              <a:rPr sz="1000" b="1">
                <a:solidFill>
                  <a:srgbClr val="F96167"/>
                </a:solidFill>
                <a:latin typeface="Cambria"/>
                <a:ea typeface="Cambria"/>
                <a:cs typeface="Cambria"/>
              </a:rPr>
              <a:t>AI-Powered Software Testing System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4143A35-51C3-4FD0-B7E3-DE150B6A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54" y="651052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000">
                <a:solidFill>
                  <a:srgbClr val="6B7280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>
              <a:defRPr sz="1000">
                <a:solidFill>
                  <a:srgbClr val="6B7280"/>
                </a:solidFill>
                <a:latin typeface="Cambria"/>
                <a:ea typeface="Cambria"/>
                <a:cs typeface="Cambria"/>
              </a:defRPr>
            </a:pPr>
            <a:r>
              <a:rPr sz="1000">
                <a:solidFill>
                  <a:srgbClr val="6B7280"/>
                </a:solidFill>
                <a:latin typeface="Cambria"/>
                <a:ea typeface="Cambria"/>
                <a:cs typeface="Cambria"/>
              </a:rPr>
              <a:t>14</a:t>
            </a:r>
          </a:p>
        </p:txBody>
      </p:sp>
      <p:sp>
        <p:nvSpPr>
          <p:cNvPr id="6" name="footer-diamond-1">
            <a:extLst xmlns:a="http://schemas.openxmlformats.org/drawingml/2006/main">
              <a:ext uri="{FF2B5EF4-FFF2-40B4-BE49-F238E27FC236}">
                <a16:creationId xmlns:a16="http://schemas.microsoft.com/office/drawing/2014/main" id="{5D5E16B7-580E-4766-A0A8-70DC9EE9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489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280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diamond-2">
            <a:extLst xmlns:a="http://schemas.openxmlformats.org/drawingml/2006/main">
              <a:ext uri="{FF2B5EF4-FFF2-40B4-BE49-F238E27FC236}">
                <a16:creationId xmlns:a16="http://schemas.microsoft.com/office/drawing/2014/main" id="{450FFBF7-629A-43D0-B498-1EF8C24F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09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AD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diamond-3">
            <a:extLst xmlns:a="http://schemas.openxmlformats.org/drawingml/2006/main">
              <a:ext uri="{FF2B5EF4-FFF2-40B4-BE49-F238E27FC236}">
                <a16:creationId xmlns:a16="http://schemas.microsoft.com/office/drawing/2014/main" id="{8A61E5F3-368D-4C69-BAB6-13791331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30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9616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999C3C-EBE1-46BA-9194-27DD3202D2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02f5821e5146b2"/>
          <a:stretch xmlns:a="http://schemas.openxmlformats.org/drawingml/2006/main"/>
        </p:blipFill>
        <p:spPr>
          <a:xfrm xmlns:a="http://schemas.openxmlformats.org/drawingml/2006/main">
            <a:off x="10838439" y="256032"/>
            <a:ext cx="740591" cy="445199"/>
          </a:xfrm>
          <a:prstGeom xmlns:a="http://schemas.openxmlformats.org/drawingml/2006/main" prst="rect">
            <a:avLst/>
          </a:prstGeom>
        </p:spPr>
      </p:pic>
      <p:sp>
        <p:nvSpPr>
          <p:cNvPr id="10" name="cases-intro">
            <a:extLst xmlns:a="http://schemas.openxmlformats.org/drawingml/2006/main">
              <a:ext uri="{FF2B5EF4-FFF2-40B4-BE49-F238E27FC236}">
                <a16:creationId xmlns:a16="http://schemas.microsoft.com/office/drawing/2014/main" id="{46F92E35-AB69-4D23-8A78-B3E4F751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9062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00123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200">
                <a:solidFill>
                  <a:srgbClr val="001233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001233"/>
                </a:solidFill>
                <a:latin typeface="Calibri"/>
                <a:ea typeface="Calibri"/>
                <a:cs typeface="Calibri"/>
              </a:rPr>
              <a:t>Representative checks mapped to the project’s AI, safety, database and metrics test modules.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525B3-DA73-4703-8520-9124EF4031EA}"/>
              </a:ext>
            </a:extLst>
          </p:cNvPr>
          <p:cNvGraphicFramePr/>
          <p:nvPr/>
        </p:nvGraphicFramePr>
        <p:xfrm>
          <a:off xmlns:a="http://schemas.openxmlformats.org/drawingml/2006/main" x="548640" y="1600200"/>
          <a:ext xmlns:a="http://schemas.openxmlformats.org/drawingml/2006/main" cx="110871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1952625"/>
                <a:gridCol w="2952750"/>
                <a:gridCol w="5229225"/>
              </a:tblGrid>
              <a:tr h="4572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ID</a:t>
                      </a:r>
                    </a:p>
                  </a:txBody>
                  <a:tcPr marL="91440" marR="91440" marT="45720" marB="4572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Module</a:t>
                      </a:r>
                    </a:p>
                  </a:txBody>
                  <a:tcPr marL="91440" marR="91440" marT="45720" marB="4572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Scenario</a:t>
                      </a:r>
                    </a:p>
                  </a:txBody>
                  <a:tcPr marL="91440" marR="91440" marT="45720" marB="4572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Expected result</a:t>
                      </a:r>
                    </a:p>
                  </a:txBody>
                  <a:tcPr marL="91440" marR="91440" marT="45720" marB="45720" anchor="ctr">
                    <a:solidFill>
                      <a:srgbClr val="002060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TC-AI-01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JSON parser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Plain, fenced or embedded valid 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Parser extracts JSON for schema validation.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TC-AI-02</a:t>
                      </a:r>
                    </a:p>
                  </a:txBody>
                  <a:tcPr marL="91440" marR="91440" marT="45720" marB="4572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Test-case schema</a:t>
                      </a:r>
                    </a:p>
                  </a:txBody>
                  <a:tcPr marL="91440" marR="91440" marT="45720" marB="4572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Generated case omits steps or expected result</a:t>
                      </a:r>
                    </a:p>
                  </a:txBody>
                  <a:tcPr marL="91440" marR="91440" marT="45720" marB="4572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Parser rejects the incomplete response.</a:t>
                      </a:r>
                    </a:p>
                  </a:txBody>
                  <a:tcPr marL="91440" marR="91440" marT="45720" marB="45720" anchor="ctr">
                    <a:solidFill>
                      <a:srgbClr val="EAF3F5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TC-AI-03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Action safety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AI returns a shell or unknown action type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Validator rejects it before execution.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TC-AI-04</a:t>
                      </a:r>
                    </a:p>
                  </a:txBody>
                  <a:tcPr marL="91440" marR="91440" marT="45720" marB="4572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Action fields</a:t>
                      </a:r>
                    </a:p>
                  </a:txBody>
                  <a:tcPr marL="91440" marR="91440" marT="45720" marB="4572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Navigate has no URL; assert_text has no text</a:t>
                      </a:r>
                    </a:p>
                  </a:txBody>
                  <a:tcPr marL="91440" marR="91440" marT="45720" marB="4572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Validator rejects each missing required field.</a:t>
                      </a:r>
                    </a:p>
                  </a:txBody>
                  <a:tcPr marL="91440" marR="91440" marT="45720" marB="45720" anchor="ctr">
                    <a:solidFill>
                      <a:srgbClr val="EAF3F5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TC-DB-01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Database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Create and retrieve project, requirement, case and steps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Records persist with their requirement and case links.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TC-KPI-01</a:t>
                      </a:r>
                    </a:p>
                  </a:txBody>
                  <a:tcPr marL="91440" marR="91440" marT="45720" marB="4572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Metrics</a:t>
                      </a:r>
                    </a:p>
                  </a:txBody>
                  <a:tcPr marL="91440" marR="91440" marT="45720" marB="4572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Three passes and one failure; then an empty project</a:t>
                      </a:r>
                    </a:p>
                  </a:txBody>
                  <a:tcPr marL="91440" marR="91440" marT="45720" marB="45720" anchor="ctr"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8" b="0">
                          <a:solidFill>
                            <a:srgbClr val="001233"/>
                          </a:solidFill>
                          <a:latin typeface="Calibri"/>
                          <a:ea typeface="Calibri"/>
                          <a:cs typeface="Calibri"/>
                        </a:rPr>
                        <a:t>Pass rate is 75%; empty-project counts and pass rate are zero.</a:t>
                      </a:r>
                    </a:p>
                  </a:txBody>
                  <a:tcPr marL="91440" marR="91440" marT="45720" marB="45720" anchor="ctr">
                    <a:solidFill>
                      <a:srgbClr val="EAF3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9863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3C867B4E-C217-4D4C-B26B-3A1C1200C9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6c5e641f941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91495" y="256032"/>
            <a:ext cx="1234440" cy="445242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75BAA0F-68F7-4D57-8DA5-F29A617B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201168" cy="20116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AD5A"/>
          </a:solidFill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D45335E-4069-4A40-8421-D5AEC079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6032"/>
            <a:ext cx="963137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>
                <a:solidFill>
                  <a:srgbClr val="002060"/>
                </a:solidFill>
                <a:latin typeface="Cambria"/>
                <a:ea typeface="Cambria"/>
                <a:cs typeface="Cambria"/>
              </a:rPr>
              <a:t>Conclusion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A8EB7E1-BBB9-4972-AE64-9F16C518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749808"/>
            <a:ext cx="944849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SUMMARY &amp; FUTURE ENHANCEMENTS</a:t>
            </a:r>
            <a:endParaRPr sz="11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9F78C35-6C46-446A-AC30-11EF3A77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3444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Conclusion</a:t>
            </a:r>
            <a:endParaRPr sz="1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99B667C1-86F5-46B0-8A85-2F70E2D6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00200"/>
            <a:ext cx="557784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sz="1300">
                <a:solidFill>
                  <a:srgbClr val="001233"/>
                </a:solidFill>
                <a:latin typeface="Calibri"/>
                <a:ea typeface="Calibri"/>
                <a:cs typeface="Calibri"/>
              </a:rPr>
              <a:t>Brings requirements, AI-generated tests, automation, and defects into one platform.</a:t>
            </a:r>
            <a:endParaRPr sz="1300"/>
          </a:p>
          <a:p xmlns:a="http://schemas.openxmlformats.org/drawingml/2006/main"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sz="1300">
                <a:solidFill>
                  <a:srgbClr val="001233"/>
                </a:solidFill>
                <a:latin typeface="Calibri"/>
                <a:ea typeface="Calibri"/>
                <a:cs typeface="Calibri"/>
              </a:rPr>
              <a:t>Reduces manual effort through AI-assisted analysis and test generation.</a:t>
            </a:r>
            <a:endParaRPr sz="1300"/>
          </a:p>
          <a:p xmlns:a="http://schemas.openxmlformats.org/drawingml/2006/main"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sz="1300">
                <a:solidFill>
                  <a:srgbClr val="001233"/>
                </a:solidFill>
                <a:latin typeface="Calibri"/>
                <a:ea typeface="Calibri"/>
                <a:cs typeface="Calibri"/>
              </a:rPr>
              <a:t>Validates automation actions before execution for safer, predictable runs.</a:t>
            </a:r>
            <a:endParaRPr sz="1300"/>
          </a:p>
          <a:p xmlns:a="http://schemas.openxmlformats.org/drawingml/2006/main"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sz="1300">
                <a:solidFill>
                  <a:srgbClr val="001233"/>
                </a:solidFill>
                <a:latin typeface="Calibri"/>
                <a:ea typeface="Calibri"/>
                <a:cs typeface="Calibri"/>
              </a:rPr>
              <a:t>Gives clear traceability from requirement through to defect resolution.</a:t>
            </a:r>
            <a:endParaRPr sz="1300"/>
          </a:p>
          <a:p xmlns:a="http://schemas.openxmlformats.org/drawingml/2006/main"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sz="1300">
                <a:solidFill>
                  <a:srgbClr val="001233"/>
                </a:solidFill>
                <a:latin typeface="Calibri"/>
                <a:ea typeface="Calibri"/>
                <a:cs typeface="Calibri"/>
              </a:rPr>
              <a:t>Presents progress and quality through a live dashboard and exportable reports.</a:t>
            </a:r>
            <a:endParaRPr sz="13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4680259-D8F5-41B2-9A78-7DA7C086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96167"/>
                </a:solidFill>
                <a:latin typeface="Cambria"/>
                <a:ea typeface="Cambria"/>
                <a:cs typeface="Cambria"/>
              </a:rPr>
              <a:t>Future Enhancements</a:t>
            </a:r>
            <a:endParaRPr sz="1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7CE4B68-2124-44E1-8CFB-ADCED14B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937760"/>
            <a:ext cx="55778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lnSpc>
                <a:spcPct val="130000"/>
              </a:lnSpc>
              <a:buSzPct val="100000"/>
              <a:buChar char="■"/>
            </a:pPr>
            <a:r>
              <a:rPr sz="1250">
                <a:solidFill>
                  <a:srgbClr val="001233"/>
                </a:solidFill>
                <a:latin typeface="Calibri"/>
                <a:ea typeface="Calibri"/>
                <a:cs typeface="Calibri"/>
              </a:rPr>
              <a:t>CI/CD pipeline integration</a:t>
            </a:r>
            <a:endParaRPr sz="1250"/>
          </a:p>
          <a:p xmlns:a="http://schemas.openxmlformats.org/drawingml/2006/main">
            <a:pPr marL="342900" indent="-342900">
              <a:lnSpc>
                <a:spcPct val="130000"/>
              </a:lnSpc>
              <a:buSzPct val="100000"/>
              <a:buChar char="■"/>
            </a:pPr>
            <a:r>
              <a:rPr sz="1250">
                <a:solidFill>
                  <a:srgbClr val="001233"/>
                </a:solidFill>
                <a:latin typeface="Calibri"/>
                <a:ea typeface="Calibri"/>
                <a:cs typeface="Calibri"/>
              </a:rPr>
              <a:t>Parallel and cloud-based execution</a:t>
            </a:r>
            <a:endParaRPr sz="1250"/>
          </a:p>
          <a:p xmlns:a="http://schemas.openxmlformats.org/drawingml/2006/main">
            <a:pPr marL="342900" indent="-342900">
              <a:lnSpc>
                <a:spcPct val="130000"/>
              </a:lnSpc>
              <a:buSzPct val="100000"/>
              <a:buChar char="■"/>
            </a:pPr>
            <a:r>
              <a:rPr sz="1250">
                <a:solidFill>
                  <a:srgbClr val="001233"/>
                </a:solidFill>
                <a:latin typeface="Calibri"/>
                <a:ea typeface="Calibri"/>
                <a:cs typeface="Calibri"/>
              </a:rPr>
              <a:t>Support for additional local/remote AI models</a:t>
            </a:r>
            <a:endParaRPr sz="12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EC678F5-D4DD-4F63-AF02-509CBD68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234440"/>
            <a:ext cx="5166360" cy="507492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02060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C7CAA3C-8DCE-4D88-944A-629CA5B3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08760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AD5A"/>
                </a:solidFill>
                <a:latin typeface="Calibri"/>
                <a:ea typeface="Calibri"/>
                <a:cs typeface="Calibri"/>
              </a:rPr>
              <a:t>FINAL OBJECTIVE</a:t>
            </a:r>
            <a:endParaRPr sz="12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1EEFDD3-6ABE-47A2-8923-D92E9640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1680"/>
            <a:ext cx="44805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This system aims to make software testing faster, more consistent, and more transparent — using local AI to connect every stage from requirement to release.</a:t>
            </a:r>
            <a:endParaRPr sz="16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576432A-DBC3-4E07-A42B-AF2B4D16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510528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96167"/>
                </a:solidFill>
                <a:latin typeface="Cambria"/>
                <a:ea typeface="Cambria"/>
                <a:cs typeface="Cambria"/>
              </a:rPr>
              <a:t>AI-Powered Software Testing System</a:t>
            </a:r>
            <a:endParaRPr sz="1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541D891-1A45-4708-B07C-FE6FACD1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8735" y="6510528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Cambria"/>
                <a:ea typeface="Cambria"/>
                <a:cs typeface="Cambria"/>
              </a:rPr>
              <a:t>15</a:t>
            </a:r>
            <a:endParaRPr sz="10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28FD9B3-FFA9-4BFB-B470-1A6007F0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528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5E567C56-1D8A-4F37-971D-AE62B470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848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AD5A"/>
          </a:solidFill>
        </p:spPr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976B786A-C65E-4BAD-A1E3-EB99B7E0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168" y="6473952"/>
            <a:ext cx="128016" cy="128016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96167"/>
          </a:solidFill>
        </p:spPr>
      </p:sp>
    </p:spTree>
    <p:extLst>
      <p:ext uri="{BB962C8B-B14F-4D97-AF65-F5344CB8AC3E}">
        <p14:creationId xmlns:p14="http://schemas.microsoft.com/office/powerpoint/2010/main" val="124140429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2026-10-09T05:51:20.4450000Z</dcterms:created>
  <dcterms:modified xsi:type="dcterms:W3CDTF">2026-10-09T05:51:20.4450000Z</dcterms:modified>
</coreProperties>
</file>